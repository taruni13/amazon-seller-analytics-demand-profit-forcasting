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87500"/>
                </a:solidFill>
              </a:defRPr>
            </a:pPr>
            <a:r>
              <a:t>Amazon Seller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11111"/>
                </a:solidFill>
              </a:defRPr>
            </a:pPr>
            <a:r>
              <a:t>Demand and Profit Forecasting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MSBA 286 — Capstone Project II</a:t>
            </a:r>
          </a:p>
          <a:p>
            <a:pPr algn="ctr">
              <a:defRPr sz="1600"/>
            </a:pPr>
            <a:r>
              <a:t>University of the Pacific — Fall 2025</a:t>
            </a:r>
          </a:p>
          <a:p>
            <a:pPr algn="ctr">
              <a:defRPr sz="1600"/>
            </a:pPr>
          </a:p>
          <a:p>
            <a:pPr algn="ctr">
              <a:defRPr sz="1600"/>
            </a:pPr>
            <a:r>
              <a:t>Group 7: Taruniben Atodariya • Arpitkumar Gohel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87500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 Built</a:t>
            </a:r>
          </a:p>
          <a:p>
            <a:r>
              <a:t>End-to-end interactive analytics dashboard for Amazon sellers</a:t>
            </a:r>
          </a:p>
          <a:p>
            <a:br/>
            <a:pPr>
              <a:defRPr b="1"/>
            </a:pPr>
            <a:r>
              <a:t>Key Features</a:t>
            </a:r>
          </a:p>
          <a:p>
            <a:r>
              <a:t>✅ Exploratory Data Analysis (EDA)</a:t>
            </a:r>
          </a:p>
          <a:p>
            <a:r>
              <a:t>✅ Machine Learning Predictive Modeling</a:t>
            </a:r>
          </a:p>
          <a:p>
            <a:r>
              <a:t>✅ Time-Series Forecasting</a:t>
            </a:r>
          </a:p>
          <a:p>
            <a:r>
              <a:t>✅ Actionable Business Recommendations</a:t>
            </a:r>
          </a:p>
          <a:p>
            <a:br/>
            <a:pPr>
              <a:defRPr b="1"/>
            </a:pPr>
            <a:r>
              <a:t>Data Scale</a:t>
            </a:r>
          </a:p>
          <a:p>
            <a:r>
              <a:t>• 45,000+ transactional records</a:t>
            </a:r>
          </a:p>
          <a:p>
            <a:r>
              <a:t>• 2 comprehensive datasets</a:t>
            </a:r>
          </a:p>
          <a:p>
            <a:r>
              <a:t>• 12-month time period 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87500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Critical Business Questions</a:t>
            </a:r>
          </a:p>
          <a:p>
            <a:r>
              <a:t>1. Which products and regions generate the most revenue and profit?</a:t>
            </a:r>
          </a:p>
          <a:p>
            <a:r>
              <a:t>2. Can we reliably forecast demand and profit for 3-6 months?</a:t>
            </a:r>
          </a:p>
          <a:p>
            <a:r>
              <a:t>3. Which features (price, channel, category) most influence revenue?</a:t>
            </a:r>
          </a:p>
          <a:p>
            <a:br/>
            <a:pPr>
              <a:defRPr b="1" sz="2000"/>
            </a:pPr>
            <a:r>
              <a:t>Solution Approach</a:t>
            </a:r>
          </a:p>
          <a:p>
            <a:r>
              <a:t>• Integrate multiple data sources</a:t>
            </a:r>
          </a:p>
          <a:p>
            <a:r>
              <a:t>• Apply ML and time-series forecasting</a:t>
            </a:r>
          </a:p>
          <a:p>
            <a:r>
              <a:t>• Deliver interactive dashboard with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87500"/>
                </a:solidFill>
              </a:defRPr>
            </a:pPr>
            <a:r>
              <a:t>Data Sources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Datasets</a:t>
            </a:r>
          </a:p>
          <a:p>
            <a:r>
              <a:t>Global Sales (45,000+ records): Region, Country, Item Type, Sales Channel, Units, Revenue, Cost, Profit</a:t>
            </a:r>
          </a:p>
          <a:p>
            <a:r>
              <a:t>E-Commerce Orders (2025 records): Product, Category, Price, Quantity, Customer Location, Payment Method</a:t>
            </a:r>
          </a:p>
          <a:p>
            <a:br/>
            <a:pPr>
              <a:defRPr b="1"/>
            </a:pPr>
            <a:r>
              <a:t>Feature Engineering</a:t>
            </a:r>
          </a:p>
          <a:p>
            <a:r>
              <a:t>• Profit Margin = (Price - Cost) / Price</a:t>
            </a:r>
          </a:p>
          <a:p>
            <a:r>
              <a:t>• Demand Index = Sales Volume + Ratings + Reviews</a:t>
            </a:r>
          </a:p>
          <a:p>
            <a:r>
              <a:t>• Price Elasticity = % Sales Change / % Price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87500"/>
                </a:solidFill>
              </a:defRPr>
            </a:pPr>
            <a:r>
              <a:t>Methodology &amp;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Three-Pronged Approach</a:t>
            </a:r>
          </a:p>
          <a:p>
            <a:br/>
            <a:pPr>
              <a:defRPr b="1"/>
            </a:pPr>
            <a:r>
              <a:t>1. Exploratory Data Analysis</a:t>
            </a:r>
          </a:p>
          <a:p>
            <a:r>
              <a:t>   Descriptive statistics, time-series trends, rankings</a:t>
            </a:r>
          </a:p>
          <a:p>
            <a:br/>
            <a:pPr>
              <a:defRPr b="1"/>
            </a:pPr>
            <a:r>
              <a:t>2. Predictive Modeling (Supervised ML)</a:t>
            </a:r>
          </a:p>
          <a:p>
            <a:r>
              <a:t>   • Random Forest (R² ≈ 0.85-0.87)</a:t>
            </a:r>
          </a:p>
          <a:p>
            <a:r>
              <a:t>   • Gradient Boosting, Linear Regression</a:t>
            </a:r>
          </a:p>
          <a:p>
            <a:br/>
            <a:pPr>
              <a:defRPr b="1"/>
            </a:pPr>
            <a:r>
              <a:t>3. Time-Series Forecasting</a:t>
            </a:r>
          </a:p>
          <a:p>
            <a:r>
              <a:t>   • ARIMA (R² ≈ 0.78-0.82)</a:t>
            </a:r>
          </a:p>
          <a:p>
            <a:r>
              <a:t>   • Hybrid ARIMA-LSTM (R² ≈ 0.87)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87500"/>
                </a:solidFill>
              </a:defRPr>
            </a:pPr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6 Interactive Pages</a:t>
            </a:r>
          </a:p>
          <a:p>
            <a:r>
              <a:t>• Home: Overview and navigation</a:t>
            </a:r>
          </a:p>
          <a:p>
            <a:r>
              <a:t>• EDA: Data exploration and visualization</a:t>
            </a:r>
          </a:p>
          <a:p>
            <a:r>
              <a:t>• Analytics: ML model training and comparison</a:t>
            </a:r>
          </a:p>
          <a:p>
            <a:r>
              <a:t>• Forecasting: 3-6 month predictions</a:t>
            </a:r>
          </a:p>
          <a:p>
            <a:r>
              <a:t>• Insights: Aggregated KPIs and findings</a:t>
            </a:r>
          </a:p>
          <a:p>
            <a:r>
              <a:t>• Suggestions: User feedback collection</a:t>
            </a:r>
          </a:p>
          <a:p>
            <a:br/>
            <a:pPr>
              <a:defRPr sz="1400" i="1"/>
            </a:pPr>
            <a:r>
              <a:t>Tech Stack: Streamlit, Python 3.11, Scikit-learn, Statsmodels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87500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1. Forecasting Performance</a:t>
            </a:r>
          </a:p>
          <a:p>
            <a:r>
              <a:t>   LSTM: R² = 0.87 (highest accuracy)</a:t>
            </a:r>
          </a:p>
          <a:p>
            <a:r>
              <a:t>   Reliable 3-6 month forecasts</a:t>
            </a:r>
          </a:p>
          <a:p>
            <a:br/>
            <a:pPr>
              <a:defRPr b="1"/>
            </a:pPr>
            <a:r>
              <a:t>2. Optimal Pricing Strategy</a:t>
            </a:r>
          </a:p>
          <a:p>
            <a:r>
              <a:t>   10-20% discounts preserve profit</a:t>
            </a:r>
          </a:p>
          <a:p>
            <a:r>
              <a:t>   Deep discounts (&gt;30%) harm margins</a:t>
            </a:r>
          </a:p>
          <a:p>
            <a:br/>
            <a:pPr>
              <a:defRPr b="1"/>
            </a:pPr>
            <a:r>
              <a:t>3. Social Proof Impact</a:t>
            </a:r>
          </a:p>
          <a:p>
            <a:r>
              <a:t>   r = 0.62 correlation (ratings ↔ sales)</a:t>
            </a:r>
          </a:p>
          <a:p>
            <a:br/>
            <a:pPr>
              <a:defRPr b="1"/>
            </a:pPr>
            <a:r>
              <a:t>4. Category Performance</a:t>
            </a:r>
          </a:p>
          <a:p>
            <a:r>
              <a:t>   Electronics &amp; Home: Stable margins</a:t>
            </a:r>
          </a:p>
          <a:p>
            <a:r>
              <a:t>   Fashion: Dynamic pricing opportunity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87500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Pricing Strategy</a:t>
            </a:r>
          </a:p>
          <a:p>
            <a:r>
              <a:t>✅ Implement dynamic pricing using ML models</a:t>
            </a:r>
          </a:p>
          <a:p>
            <a:r>
              <a:t>✅ Target 10-20% discount range</a:t>
            </a:r>
          </a:p>
          <a:p>
            <a:r>
              <a:t>✅ Category-specific pricing</a:t>
            </a:r>
          </a:p>
          <a:p>
            <a:br/>
            <a:pPr>
              <a:defRPr b="1"/>
            </a:pPr>
            <a:r>
              <a:t>Inventory Management</a:t>
            </a:r>
          </a:p>
          <a:p>
            <a:r>
              <a:t>✅ Use 3-6 month forecasts for planning</a:t>
            </a:r>
          </a:p>
          <a:p>
            <a:r>
              <a:t>✅ Maintain safety stock by volatility</a:t>
            </a:r>
          </a:p>
          <a:p>
            <a:r>
              <a:t>✅ Prioritize high-margin items</a:t>
            </a:r>
          </a:p>
          <a:p>
            <a:br/>
            <a:pPr>
              <a:defRPr b="1"/>
            </a:pPr>
            <a:r>
              <a:t>Marketing</a:t>
            </a:r>
          </a:p>
          <a:p>
            <a:r>
              <a:t>✅ Solicit product reviews actively</a:t>
            </a:r>
          </a:p>
          <a:p>
            <a:r>
              <a:t>✅ Balance online/offline channels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87500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Project Structure</a:t>
            </a:r>
          </a:p>
          <a:p>
            <a:r>
              <a:t>App.py — Dashboard entry</a:t>
            </a:r>
          </a:p>
          <a:p>
            <a:r>
              <a:t>pages/ — 1_EDA, 2_Analytics, 3_Forecasting,</a:t>
            </a:r>
          </a:p>
          <a:p>
            <a:r>
              <a:t>         4_Insights, 5_Suggestion</a:t>
            </a:r>
          </a:p>
          <a:p>
            <a:r>
              <a:t>src/ — eda.py, ml.py, theme.py</a:t>
            </a:r>
          </a:p>
          <a:p>
            <a:r>
              <a:t>data_process/ — clean_global_sales.csv,</a:t>
            </a:r>
          </a:p>
          <a:p>
            <a:r>
              <a:t>                clean_e-commerce_orders.csv</a:t>
            </a:r>
          </a:p>
          <a:p>
            <a:br/>
            <a:pPr>
              <a:defRPr b="1"/>
            </a:pPr>
            <a:r>
              <a:t>Deployment: Streamlit Community Cloud</a:t>
            </a:r>
          </a:p>
          <a:p>
            <a:r>
              <a:t>Repo: github.com/Taruni13/Amazon-Seller-Analytics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87500"/>
                </a:solidFill>
              </a:defRPr>
            </a:pPr>
            <a:r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Quantitative Outcomes</a:t>
            </a:r>
          </a:p>
          <a:p>
            <a:r>
              <a:t>• Revenue forecast error: &lt; 15% MAE</a:t>
            </a:r>
          </a:p>
          <a:p>
            <a:r>
              <a:t>• Demand prediction: R² = 0.87</a:t>
            </a:r>
          </a:p>
          <a:p>
            <a:r>
              <a:t>• Profit margin prediction: R² = 0.82</a:t>
            </a:r>
          </a:p>
          <a:p>
            <a:br/>
            <a:pPr>
              <a:defRPr b="1"/>
            </a:pPr>
            <a:r>
              <a:t>Business Impact</a:t>
            </a:r>
          </a:p>
          <a:p>
            <a:r>
              <a:t>• Identified 20% of products → 80% of profit</a:t>
            </a:r>
          </a:p>
          <a:p>
            <a:r>
              <a:t>• Optimal discount range: 10-20%</a:t>
            </a:r>
          </a:p>
          <a:p>
            <a:r>
              <a:t>• Rating impact quantified: +62% correlation</a:t>
            </a:r>
          </a:p>
          <a:p>
            <a:br/>
            <a:br/>
            <a:pPr>
              <a:defRPr b="1" sz="2400">
                <a:solidFill>
                  <a:srgbClr val="E87500"/>
                </a:solidFill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